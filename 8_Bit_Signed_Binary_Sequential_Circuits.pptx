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</a:defRPr>
            </a:pPr>
            <a:r>
              <a:t>8-BIT SIGNED BINARY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101498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CDDCF0"/>
                </a:solidFill>
              </a:defRPr>
            </a:pPr>
            <a:r>
              <a:t>Combinational vs Sequential • Clock • Latches • Flip-Flops • Registers • Counters • FSM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754880"/>
            <a:ext cx="5577840" cy="685800"/>
          </a:xfrm>
          <a:prstGeom prst="roundRect">
            <a:avLst/>
          </a:prstGeom>
          <a:solidFill>
            <a:srgbClr val="E8AB43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22037"/>
                </a:solidFill>
              </a:defRPr>
            </a:pPr>
            <a:r>
              <a:t>DIGITAL LOGIC &amp; SEQUENTIAL CIRCUITS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1. 8-Bit Signed Binary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Understanding the data stored inside a digital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An 8-bit word contains eight binary digits: b7 b6 b5 b4 b3 b2 b1 b0.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In 2’s-complement representation, the most significant bit (MSB) indicates the sign.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8-bit signed range: −128 to +127.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Positive values are represented directly; negative values are obtained by inverting the bits and adding 1.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Example: +13 = 00001101 → invert = 11110010 → +1 = 11110011 = −13.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Registers, counters and other sequential circuits can store these 8-bit signed values from one clock cycle to the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5623560"/>
            <a:ext cx="5943600" cy="502920"/>
          </a:xfrm>
          <a:prstGeom prst="roundRect">
            <a:avLst/>
          </a:prstGeom>
          <a:solidFill>
            <a:srgbClr val="E8AB43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22037"/>
                </a:solidFill>
              </a:defRPr>
            </a:pPr>
            <a:r>
              <a:t>8-bit signed range:  −128  to  +127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2. Combinational vs Sequential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The key difference is memory and dependence on previous 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29718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COMBINATIONAL</a:t>
            </a:r>
            <a:br/>
            <a:r>
              <a:t>Output depends only on</a:t>
            </a:r>
            <a:br/>
            <a:r>
              <a:t>current inputs.</a:t>
            </a:r>
            <a:br/>
            <a:br/>
            <a:r>
              <a:t>Examples: adders, MUX,</a:t>
            </a:r>
            <a:br/>
            <a:r>
              <a:t>decoders, comparators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5074920" cy="297180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SEQUENTIAL</a:t>
            </a:r>
            <a:br/>
            <a:r>
              <a:t>Output depends on current</a:t>
            </a:r>
            <a:br/>
            <a:r>
              <a:t>inputs + previous state.</a:t>
            </a:r>
            <a:br/>
            <a:br/>
            <a:r>
              <a:t>Uses memory elements,</a:t>
            </a:r>
            <a:br/>
            <a:r>
              <a:t>clock, latches or flip-flops.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An 8-bit adder is combinational: its output changes when the inputs change.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An 8-bit register is sequential: it remembers the stored binary value until it is updated.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Sequential circuits are therefore essential when a digital system must remember data or follow a sequence of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3. Clock &amp; Latches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Controlling when stored information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27432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0">
                <a:solidFill>
                  <a:srgbClr val="122037"/>
                </a:solidFill>
              </a:defRPr>
            </a:pPr>
            <a:r>
              <a:t>CLOCK</a:t>
            </a:r>
            <a:br/>
            <a:r>
              <a:t>Periodic timing signal</a:t>
            </a:r>
            <a:br/>
            <a:br/>
            <a:r>
              <a:t>↑   ↑   ↑   ↑</a:t>
            </a:r>
            <a:br/>
            <a:r>
              <a:t>|   |   |   |</a:t>
            </a:r>
            <a:br/>
            <a:r>
              <a:t>Controls state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200400" cy="27432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LATCH</a:t>
            </a:r>
            <a:br/>
            <a:r>
              <a:t>Level-sensitive</a:t>
            </a:r>
            <a:br/>
            <a:br/>
            <a:r>
              <a:t>Can respond while its</a:t>
            </a:r>
            <a:br/>
            <a:r>
              <a:t>enable/control level is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00400" cy="274320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CLOCK EDGE</a:t>
            </a:r>
            <a:br/>
            <a:r>
              <a:t>Rising edge:  ↑</a:t>
            </a:r>
            <a:br/>
            <a:r>
              <a:t>Falling edge: ↓</a:t>
            </a:r>
            <a:br/>
            <a:br/>
            <a:r>
              <a:t>Flip-flops usually respond</a:t>
            </a:r>
            <a:br/>
            <a:r>
              <a:t>to one 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The clock provides a common timing reference for sequential circuits.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A latch is level-sensitive, while an edge-triggered flip-flop changes state at a clock edge.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Clocked storage lets an 8-bit value be captured and held predictably.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4. Flip-Flops &amp; D Flip-Flop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A flip-flop stores one bit of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0">
                <a:solidFill>
                  <a:srgbClr val="122037"/>
                </a:solidFill>
              </a:defRPr>
            </a:pPr>
            <a:r>
              <a:t>FLIP-FLOP</a:t>
            </a:r>
            <a:br/>
            <a:r>
              <a:t>1 bit of storage</a:t>
            </a:r>
            <a:br/>
            <a:br/>
            <a:r>
              <a:t>Q = stored state</a:t>
            </a:r>
            <a:br/>
            <a:r>
              <a:t>Q̅ = complement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00400" cy="246888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0">
                <a:solidFill>
                  <a:srgbClr val="122037"/>
                </a:solidFill>
              </a:defRPr>
            </a:pPr>
            <a:r>
              <a:t>D FLIP-FLOP</a:t>
            </a:r>
            <a:br/>
            <a:r>
              <a:t>D = data input</a:t>
            </a:r>
            <a:br/>
            <a:r>
              <a:t>CLK = clock</a:t>
            </a:r>
            <a:br/>
            <a:r>
              <a:t>Q(next) = D</a:t>
            </a:r>
            <a:br/>
            <a:r>
              <a:t>at the active clock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20040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8-BIT STORAGE</a:t>
            </a:r>
            <a:br/>
            <a:r>
              <a:t>8 D flip-flops</a:t>
            </a:r>
            <a:br/>
            <a:r>
              <a:t>= 8-bit register</a:t>
            </a:r>
            <a:br/>
            <a:br/>
            <a:r>
              <a:t>Example: 11110011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241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A D flip-flop removes the ambiguity of what data should be stored: the value at D is transferred to Q on the active clock edge.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Eight D flip-flops can store one complete 8-bit signed binary number.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Example: 11110011 can remain stored as −13 until a new value is clocked 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5.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Groups of flip-flops used to store multi-bit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5486400" cy="6858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D7 D6 D5 D4 D3 D2 D1 D0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14600"/>
            <a:ext cx="3657600" cy="91440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8 D FLIP-FLOPS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86200"/>
            <a:ext cx="5486400" cy="6858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Q7 Q6 Q5 Q4 Q3 Q2 Q1 Q0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57400"/>
            <a:ext cx="3383280" cy="1645920"/>
          </a:xfrm>
          <a:prstGeom prst="roundRect">
            <a:avLst/>
          </a:prstGeom>
          <a:solidFill>
            <a:srgbClr val="E8AB43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8-BIT REGISTER</a:t>
            </a:r>
            <a:br/>
            <a:r>
              <a:t>Stores one 8-bit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20624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An n-bit register requires n storage elements such as D flip-flops.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An 8-bit register can hold signed values from −128 to +127 when interpreted using 2’s complement.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Registers are used for temporary data, operands, results and control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6. Shift Registers: SISO &amp; SIPO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Moving binary data one bit at a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22860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>
                <a:solidFill>
                  <a:srgbClr val="122037"/>
                </a:solidFill>
              </a:defRPr>
            </a:pPr>
            <a:r>
              <a:t>SISO</a:t>
            </a:r>
            <a:br/>
            <a:r>
              <a:t>Serial In → [FF] → [FF] → [FF] → [FF] → Serial Out</a:t>
            </a:r>
            <a:br/>
            <a:br/>
            <a:r>
              <a:t>Data enters and leaves one bit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0">
                <a:solidFill>
                  <a:srgbClr val="122037"/>
                </a:solidFill>
              </a:defRPr>
            </a:pPr>
            <a:r>
              <a:t>SIPO</a:t>
            </a:r>
            <a:br/>
            <a:r>
              <a:t>Serial In → [FF] → [FF] → [FF] → [FF]</a:t>
            </a:r>
            <a:br/>
            <a:r>
              <a:t>                         ↓</a:t>
            </a:r>
            <a:br/>
            <a:r>
              <a:t>                    Parallel Outputs</a:t>
            </a:r>
            <a:br/>
            <a:br/>
            <a:r>
              <a:t>Serial data becomes a multi-bit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149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SISO = Serial-In Serial-Out: useful for delaying or transmitting data serially.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SIPO = Serial-In Parallel-Out: useful for converting a serial bit stream into a parallel binary value.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With 8 stages, an 8-bit signed binary word can be shifted through the register over successive clock pulses.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7. 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Sequential circuits that change state according to clock pulses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27432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122037"/>
                </a:solidFill>
              </a:defRPr>
            </a:pPr>
            <a:r>
              <a:t>CLOCK</a:t>
            </a:r>
            <a:br/>
            <a:r>
              <a:t>↓</a:t>
            </a:r>
            <a:br/>
            <a:r>
              <a:t>COUNTER</a:t>
            </a:r>
            <a:br/>
            <a:r>
              <a:t>↓</a:t>
            </a:r>
            <a:br/>
            <a:r>
              <a:t>0000 → 0001 → 0010 → 0011 →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371600"/>
            <a:ext cx="3017520" cy="274320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22037"/>
                </a:solidFill>
              </a:defRPr>
            </a:pPr>
            <a:r>
              <a:t>8-BIT COUNTER</a:t>
            </a:r>
            <a:br/>
            <a:r>
              <a:t>00000000</a:t>
            </a:r>
            <a:br/>
            <a:r>
              <a:t>00000001</a:t>
            </a:r>
            <a:br/>
            <a:r>
              <a:t>00000010</a:t>
            </a:r>
            <a:br/>
            <a:r>
              <a:t>...</a:t>
            </a:r>
            <a:br/>
            <a:r>
              <a:t>11111111</a:t>
            </a:r>
            <a:br/>
            <a:r>
              <a:t>→ repeats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71600"/>
            <a:ext cx="3383280" cy="274320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>
                <a:solidFill>
                  <a:srgbClr val="122037"/>
                </a:solidFill>
              </a:defRPr>
            </a:pPr>
            <a:r>
              <a:t>SIGNED INTERPRETATION</a:t>
            </a:r>
            <a:br/>
            <a:r>
              <a:t>The same bit pattern can be</a:t>
            </a:r>
            <a:br/>
            <a:r>
              <a:t>interpreted as 2’s-complement</a:t>
            </a:r>
            <a:br/>
            <a:r>
              <a:t>signed data when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Counters advance through a predefined sequence of states.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An 8-bit binary counter has 256 distinct states before returning to its starting state.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Important: an ordinary binary counter counts bit patterns; interpreting those patterns as signed numbers is a separate operation.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8. Program Counter (PC)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A special register that keeps track of the next instruction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4572000" cy="292608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PROGRAM COUNTER</a:t>
            </a:r>
            <a:br/>
            <a:br/>
            <a:r>
              <a:t>PC = address of next instruction</a:t>
            </a:r>
            <a:br/>
            <a:br/>
            <a:r>
              <a:t>Clock → PC updates →</a:t>
            </a:r>
            <a:br/>
            <a:r>
              <a:t>Instruction Memory reads address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389120" cy="292608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CPU FLOW</a:t>
            </a:r>
            <a:br/>
            <a:r>
              <a:t>PC → Instruction Fetch</a:t>
            </a:r>
            <a:br/>
            <a:r>
              <a:t>      ↓</a:t>
            </a:r>
            <a:br/>
            <a:r>
              <a:t>Decode → Execute</a:t>
            </a:r>
            <a:br/>
            <a:r>
              <a:t>      ↓</a:t>
            </a:r>
            <a:br/>
            <a:r>
              <a:t>PC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The program counter is a sequential storage element, normally implemented as a register.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On each instruction cycle, the PC can be updated to the next sequential address or changed by a branch/jump.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The clock coordinates these updates so the processor executes instructions in the intended sequence.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9. Finite State Machine (FSM)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F91"/>
                </a:solidFill>
              </a:defRPr>
            </a:pPr>
            <a:r>
              <a:t>Representing a system as a set of states and transitions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19456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STATE A</a:t>
            </a:r>
            <a:br/>
            <a:r>
              <a:t>IDLE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2194560" cy="1051560"/>
          </a:xfrm>
          <a:prstGeom prst="roundRect">
            <a:avLst/>
          </a:prstGeom>
          <a:solidFill>
            <a:srgbClr val="DCEEE2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STATE B</a:t>
            </a:r>
            <a:br/>
            <a:r>
              <a:t>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2194560" cy="1051560"/>
          </a:xfrm>
          <a:prstGeom prst="roundRect">
            <a:avLst/>
          </a:prstGeom>
          <a:solidFill>
            <a:srgbClr val="E8AB43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STATE C</a:t>
            </a:r>
            <a:br/>
            <a:r>
              <a:t>EXECUTE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063240"/>
            <a:ext cx="4114800" cy="731520"/>
          </a:xfrm>
          <a:prstGeom prst="roundRect">
            <a:avLst/>
          </a:prstGeom>
          <a:solidFill>
            <a:srgbClr val="EFF5FB"/>
          </a:solidFill>
          <a:ln>
            <a:solidFill>
              <a:srgbClr val="34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22037"/>
                </a:solidFill>
              </a:defRPr>
            </a:pPr>
            <a:r>
              <a:t>Clocked state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An FSM consists of a finite number of states, transitions and outputs.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The current state is stored using flip-flops; the clock controls when the FSM changes state.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Example processor sequence: FETCH → DECODE → EXECUTE → FETCH.</a:t>
            </a:r>
          </a:p>
          <a:p>
            <a:pPr>
              <a:spcAft>
                <a:spcPts val="1000"/>
              </a:spcAft>
              <a:defRPr sz="1600">
                <a:solidFill>
                  <a:srgbClr val="262D37"/>
                </a:solidFill>
              </a:defRPr>
            </a:pPr>
            <a:r>
              <a:t>FSMs are widely used in controllers, communication systems and digital processors.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4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45F9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0" y="3703320"/>
            <a:ext cx="2423160" cy="54864"/>
          </a:xfrm>
          <a:prstGeom prst="rect">
            <a:avLst/>
          </a:prstGeom>
          <a:solidFill>
            <a:srgbClr val="E8A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977639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DDCF0"/>
                </a:solidFill>
              </a:defRPr>
            </a:pPr>
            <a:r>
              <a:t>8-Bit Signed Binary Representation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