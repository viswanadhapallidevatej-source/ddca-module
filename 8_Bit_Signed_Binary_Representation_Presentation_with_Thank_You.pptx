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</a:defRPr>
            </a:pPr>
            <a:r>
              <a:t>8-BIT SIGNED BINARY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DDCF0"/>
                </a:solidFill>
              </a:defRPr>
            </a:pPr>
            <a:r>
              <a:t>K-Maps • Adders • Subtraction • MUX • Comparators • Code Converters • ALU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709160"/>
            <a:ext cx="5577840" cy="68580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22037"/>
                </a:solidFill>
              </a:defRPr>
            </a:pPr>
            <a:r>
              <a:t>DIGITAL LOGIC &amp; COMBINATIONAL CIRCUITS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1. 8-Bit Signed Binary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How positive and negative integers are stored using 8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An 8-bit binary number contains 8 positions: b7 b6 b5 b4 b3 b2 b1 b0.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In 2’s-complement representation, the MSB acts as the sign indicator: 0 → non-negative, 1 → negative.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8-bit signed range: −128 to +127.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Positive numbers are written normally; to represent a negative number, invert all bits and add 1.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Example: +13 = 00001101 → invert = 11110010 → +1 = 11110011 = −13.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2’s complement is especially useful because the same binary adder hardware can perform both addition and subtraction.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5623560"/>
            <a:ext cx="6217920" cy="50292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22037"/>
                </a:solidFill>
              </a:defRPr>
            </a:pPr>
            <a:r>
              <a:t>−128  ←  8-bit signed values  →  +127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2. K-Maps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Simplifying Boolean logic before implementing a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Karnaugh Maps provide a visual method for minimizing Boolean expressions.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Adjacent 1s are grouped for SOP simplification; adjacent 0s are grouped for POS simplification.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Groups are made in powers of two: 1, 2, 4, 8, … cells.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In signed arithmetic systems, K-Maps can simplify control and detection logic, such as sign or overflow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Fewer terms and fewer gates generally produce a simpler combinational circuit.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914400" cy="502920"/>
          </a:xfrm>
          <a:prstGeom prst="roundRect">
            <a:avLst/>
          </a:prstGeom>
          <a:solidFill>
            <a:srgbClr val="315E91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22037"/>
                </a:solidFill>
              </a:defRPr>
            </a:pPr>
            <a:r>
              <a:t>A\B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417320"/>
            <a:ext cx="9144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22037"/>
                </a:solidFill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417320"/>
            <a:ext cx="914400" cy="50292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22037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920240"/>
            <a:ext cx="914400" cy="5943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22037"/>
                </a:solidFill>
              </a:defRPr>
            </a:pPr>
            <a: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514600"/>
            <a:ext cx="914400" cy="5943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22037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920240"/>
            <a:ext cx="914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22037"/>
                </a:solidFill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1920240"/>
            <a:ext cx="914400" cy="594360"/>
          </a:xfrm>
          <a:prstGeom prst="roundRect">
            <a:avLst/>
          </a:prstGeom>
          <a:solidFill>
            <a:srgbClr val="DCEEE2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22037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2514600"/>
            <a:ext cx="914400" cy="594360"/>
          </a:xfrm>
          <a:prstGeom prst="roundRect">
            <a:avLst/>
          </a:prstGeom>
          <a:solidFill>
            <a:srgbClr val="DCEEE2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22037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2514600"/>
            <a:ext cx="914400" cy="594360"/>
          </a:xfrm>
          <a:prstGeom prst="roundRect">
            <a:avLst/>
          </a:prstGeom>
          <a:solidFill>
            <a:srgbClr val="DCEEE2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22037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657600"/>
            <a:ext cx="3657600" cy="91440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22037"/>
                </a:solidFill>
              </a:defRPr>
            </a:pPr>
            <a:r>
              <a:t>Group adjacent 1s</a:t>
            </a:r>
            <a:br/>
            <a:r>
              <a:t>→ simplified expression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3. Combinational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The output depends only on the present input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Combinational circuits do not store previous states.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Common examples: adders, subtractors, decoders, encoders, multiplexers, comparators and code converters.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These circuits are built from logic gates such as AND, OR, NOT, XOR and NAND.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For an 8-bit system, individual 1-bit circuits can be connected in parallel or cascaded to process 8-bit data.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Together, these blocks form the datapath of larger digital systems such as an ALU.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5212080"/>
            <a:ext cx="6400800" cy="73152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INPUTS  →  LOGIC CIRCUIT  → 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4. Half Adder &amp; Full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Basic building blocks for binary addition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24231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HALF ADDER</a:t>
            </a:r>
            <a:br/>
            <a:r>
              <a:t>Inputs: A, B</a:t>
            </a:r>
            <a:br/>
            <a:r>
              <a:t>Sum = A ⊕ B</a:t>
            </a:r>
            <a:br/>
            <a:r>
              <a:t>Carry = A ·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337560" cy="24231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>
                <a:solidFill>
                  <a:srgbClr val="122037"/>
                </a:solidFill>
              </a:defRPr>
            </a:pPr>
            <a:r>
              <a:t>FULL ADDER</a:t>
            </a:r>
            <a:br/>
            <a:r>
              <a:t>Inputs: A, B, Cin</a:t>
            </a:r>
            <a:br/>
            <a:r>
              <a:t>Sum = A ⊕ B ⊕ Cin</a:t>
            </a:r>
            <a:br/>
            <a:r>
              <a:t>Cout = AB + Cin(A ⊕ 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291840" cy="24231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8-BIT ADDER</a:t>
            </a:r>
            <a:br/>
            <a:r>
              <a:t>8 full adders</a:t>
            </a:r>
            <a:br/>
            <a:r>
              <a:t>connected together</a:t>
            </a:r>
            <a:br/>
            <a:r>
              <a:t>Cout → next Cin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Half adder adds two bits but has no carry-in.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Full adder adds A, B and an incoming carry.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Eight full adders can be cascaded to perform 8-bit binary addition.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5. Binary Subtraction &amp; Adder/Subtractor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Using 2’s complement to perform subtraction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Binary subtraction can be converted into addition using 2’s complement.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To calculate A − B: take the 2’s complement of B and add it to A.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Example: 7 − 3 → 00000111 + (2’s complement of 00000011 = 11111101) = 00000100.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An adder/subtractor combines both operations using XOR gates and a control signal.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When SUB = 0, B passes unchanged → addition. When SUB = 1, B is complemented and 1 is added → subtraction.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3657600" cy="228600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22037"/>
                </a:solidFill>
              </a:defRPr>
            </a:pPr>
            <a:r>
              <a:t>A ─────────────┐</a:t>
            </a:r>
            <a:br/>
            <a:r>
              <a:t>                 ADDER ─→ RESULT</a:t>
            </a:r>
            <a:br/>
            <a:r>
              <a:t>B ─→ XOR ────────┘</a:t>
            </a:r>
            <a:br/>
            <a:r>
              <a:t>      ↑</a:t>
            </a:r>
            <a:br/>
            <a:r>
              <a:t>     SUB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51960"/>
            <a:ext cx="3566160" cy="100584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SUB = 0 → A + B</a:t>
            </a:r>
            <a:br/>
            <a:r>
              <a:t>SUB = 1 → A − B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6. Decoder &amp; 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Converting between coded inputs and one-hot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937760" cy="274320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DECODER</a:t>
            </a:r>
            <a:br/>
            <a:r>
              <a:t>n inputs → 2ⁿ outputs</a:t>
            </a:r>
            <a:br/>
            <a:r>
              <a:t>Example: 2 → 4 decoder</a:t>
            </a:r>
            <a:br/>
            <a:r>
              <a:t>Only one output is active</a:t>
            </a:r>
            <a:br/>
            <a:r>
              <a:t>for a valid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937760" cy="274320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ENCODER</a:t>
            </a:r>
            <a:br/>
            <a:r>
              <a:t>2ⁿ inputs → n outputs</a:t>
            </a:r>
            <a:br/>
            <a:r>
              <a:t>Example: 4 → 2 encoder</a:t>
            </a:r>
            <a:br/>
            <a:r>
              <a:t>Converts an active input</a:t>
            </a:r>
            <a:br/>
            <a:r>
              <a:t>into a binary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Decoders are useful for selecting one operation, memory location or control line.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Encoders perform the reverse type of conversion.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In an ALU or digital controller, these blocks can translate operation codes into control signals.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7. Multiplexer &amp; Comparator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Selecting data and comparing signed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26517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0">
                <a:solidFill>
                  <a:srgbClr val="122037"/>
                </a:solidFill>
              </a:defRPr>
            </a:pPr>
            <a:r>
              <a:t>MUX</a:t>
            </a:r>
            <a:br/>
            <a:r>
              <a:t>Many inputs → one output</a:t>
            </a:r>
            <a:br/>
            <a:r>
              <a:t>Select lines decide which</a:t>
            </a:r>
            <a:br/>
            <a:r>
              <a:t>input reaches the output.</a:t>
            </a:r>
            <a:br/>
            <a:r>
              <a:t>4:1 MUX → 2 select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5074920" cy="26517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0">
                <a:solidFill>
                  <a:srgbClr val="122037"/>
                </a:solidFill>
              </a:defRPr>
            </a:pPr>
            <a:r>
              <a:t>COMPARATOR</a:t>
            </a:r>
            <a:br/>
            <a:r>
              <a:t>Checks A and B and produces</a:t>
            </a:r>
            <a:br/>
            <a:r>
              <a:t>A &gt; B, A = B, or A &lt; B.</a:t>
            </a:r>
            <a:br/>
            <a:r>
              <a:t>For signed values, the sign bit</a:t>
            </a:r>
            <a:br/>
            <a:r>
              <a:t>must be interpreted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A multiplexer can select between arithmetic and logic results inside an ALU.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Comparators can be designed for equality, magnitude or signed/unsigned comparison.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t>Example: in signed 8-bit numbers, 11111111 represents −1, not +255.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8. Code Converters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Changing one binary coding scheme into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Code converters are combinational circuits that translate information from one code to another.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Examples: Binary ↔ Gray, Binary ↔ BCD and BCD ↔ Excess-3.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Conversion is usually designed using truth tables, Boolean expressions and K-Maps.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Example: Gray code is useful in applications where reducing transition errors is important.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For an 8-bit digital system, code converters can be placed between input devices, processing logic and output/display circuits.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00200"/>
            <a:ext cx="1600200" cy="100584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BINARY</a:t>
            </a:r>
            <a:br/>
            <a:r>
              <a:t>1011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600200"/>
            <a:ext cx="640080" cy="100584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500" b="1">
                <a:solidFill>
                  <a:srgbClr val="122037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1600200"/>
            <a:ext cx="1600200" cy="1005840"/>
          </a:xfrm>
          <a:prstGeom prst="roundRect">
            <a:avLst/>
          </a:prstGeom>
          <a:solidFill>
            <a:srgbClr val="DCEEE2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GRAY</a:t>
            </a:r>
            <a:br/>
            <a:r>
              <a:t>1110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657600"/>
            <a:ext cx="4251960" cy="77724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22037"/>
                </a:solidFill>
              </a:defRPr>
            </a:pPr>
            <a:r>
              <a:t>Truth Table → K-Map → Logic Gates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9. ALU — Arithmetic Logic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15E91"/>
                </a:solidFill>
              </a:defRPr>
            </a:pPr>
            <a:r>
              <a:t>The ALU brings the major combinational building blocks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508760" cy="68580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A (8-bit)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71800"/>
            <a:ext cx="1508760" cy="68580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B (8-bit)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417320"/>
            <a:ext cx="2468880" cy="1143000"/>
          </a:xfrm>
          <a:prstGeom prst="roundRect">
            <a:avLst/>
          </a:prstGeom>
          <a:solidFill>
            <a:srgbClr val="DCEEE2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22037"/>
                </a:solidFill>
              </a:defRPr>
            </a:pPr>
            <a:r>
              <a:t>ARITHMETIC</a:t>
            </a:r>
            <a:br/>
            <a:r>
              <a:t>ADD / SUBTRACT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788920"/>
            <a:ext cx="2468880" cy="1143000"/>
          </a:xfrm>
          <a:prstGeom prst="roundRect">
            <a:avLst/>
          </a:prstGeom>
          <a:solidFill>
            <a:srgbClr val="DCEEE2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22037"/>
                </a:solidFill>
              </a:defRPr>
            </a:pPr>
            <a:r>
              <a:t>LOGIC</a:t>
            </a:r>
            <a:br/>
            <a:r>
              <a:t>AND / OR / XOR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920240"/>
            <a:ext cx="2057400" cy="1554480"/>
          </a:xfrm>
          <a:prstGeom prst="roundRect">
            <a:avLst/>
          </a:prstGeom>
          <a:solidFill>
            <a:srgbClr val="E8AB43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22037"/>
                </a:solidFill>
              </a:defRPr>
            </a:pPr>
            <a:r>
              <a:t>MUX</a:t>
            </a:r>
            <a:br/>
            <a:r>
              <a:t>SELECT</a:t>
            </a:r>
            <a:br/>
            <a:r>
              <a:t>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331720"/>
            <a:ext cx="1828800" cy="822960"/>
          </a:xfrm>
          <a:prstGeom prst="roundRect">
            <a:avLst/>
          </a:prstGeom>
          <a:solidFill>
            <a:srgbClr val="EFF5FB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22037"/>
                </a:solidFill>
              </a:defRPr>
            </a:pPr>
            <a:r>
              <a:t>RESULT</a:t>
            </a:r>
            <a:br/>
            <a:r>
              <a:t>8-bit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709160"/>
            <a:ext cx="6400800" cy="731520"/>
          </a:xfrm>
          <a:prstGeom prst="roundRect">
            <a:avLst/>
          </a:prstGeom>
          <a:solidFill>
            <a:srgbClr val="DFE8F4"/>
          </a:solidFill>
          <a:ln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22037"/>
                </a:solidFill>
              </a:defRPr>
            </a:pPr>
            <a:r>
              <a:t>COMPARE / FLAGS</a:t>
            </a:r>
            <a:br/>
            <a:r>
              <a:t>Zero • Carry • Sign • Overflow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An ALU receives binary operands and a control signal indicating the required operation.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Adders and subtractors handle arithmetic; logic gates handle bitwise operations; MUXes select the final result.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Signed 8-bit operations use 2’s complement and must account for overflow when interpreting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5E9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0" y="3703320"/>
            <a:ext cx="2423160" cy="54864"/>
          </a:xfrm>
          <a:prstGeom prst="rect">
            <a:avLst/>
          </a:prstGeom>
          <a:solidFill>
            <a:srgbClr val="E8A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977639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DDCF0"/>
                </a:solidFill>
              </a:defRPr>
            </a:pPr>
            <a:r>
              <a:t>8-Bit Signed Binary Representation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